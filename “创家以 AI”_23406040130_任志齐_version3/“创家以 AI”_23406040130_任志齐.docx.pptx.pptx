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slides/slide21.xml" Type="http://schemas.openxmlformats.org/officeDocument/2006/relationships/slide"/><Relationship Id="rId3" Target="presProps.xml" Type="http://schemas.openxmlformats.org/officeDocument/2006/relationships/presProps"/><Relationship Id="rId30" Target="slides/slide22.xml" Type="http://schemas.openxmlformats.org/officeDocument/2006/relationships/slide"/><Relationship Id="rId31" Target="notesSlides/notesSlide1.xml" Type="http://schemas.openxmlformats.org/officeDocument/2006/relationships/notesSlide"/><Relationship Id="rId32" Target="notesSlides/notesSlide2.xml" Type="http://schemas.openxmlformats.org/officeDocument/2006/relationships/notesSlide"/><Relationship Id="rId33" Target="notesSlides/notesSlide3.xml" Type="http://schemas.openxmlformats.org/officeDocument/2006/relationships/notesSlide"/><Relationship Id="rId34" Target="notesSlides/notesSlide4.xml" Type="http://schemas.openxmlformats.org/officeDocument/2006/relationships/notesSlide"/><Relationship Id="rId35" Target="notesSlides/notesSlide5.xml" Type="http://schemas.openxmlformats.org/officeDocument/2006/relationships/notesSlide"/><Relationship Id="rId36" Target="notesSlides/notesSlide6.xml" Type="http://schemas.openxmlformats.org/officeDocument/2006/relationships/notesSlide"/><Relationship Id="rId37" Target="notesSlides/notesSlide7.xml" Type="http://schemas.openxmlformats.org/officeDocument/2006/relationships/notesSlide"/><Relationship Id="rId38" Target="notesSlides/notesSlide8.xml" Type="http://schemas.openxmlformats.org/officeDocument/2006/relationships/notesSlide"/><Relationship Id="rId39" Target="notesSlides/notesSlide9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0.xml" Type="http://schemas.openxmlformats.org/officeDocument/2006/relationships/notesSlide"/><Relationship Id="rId41" Target="notesSlides/notesSlide11.xml" Type="http://schemas.openxmlformats.org/officeDocument/2006/relationships/notesSlide"/><Relationship Id="rId42" Target="notesSlides/notesSlide12.xml" Type="http://schemas.openxmlformats.org/officeDocument/2006/relationships/notesSlide"/><Relationship Id="rId43" Target="notesSlides/notesSlide13.xml" Type="http://schemas.openxmlformats.org/officeDocument/2006/relationships/notesSlide"/><Relationship Id="rId44" Target="notesSlides/notesSlide14.xml" Type="http://schemas.openxmlformats.org/officeDocument/2006/relationships/notesSlide"/><Relationship Id="rId45" Target="notesSlides/notesSlide15.xml" Type="http://schemas.openxmlformats.org/officeDocument/2006/relationships/notesSlide"/><Relationship Id="rId46" Target="notesSlides/notesSlide16.xml" Type="http://schemas.openxmlformats.org/officeDocument/2006/relationships/notesSlide"/><Relationship Id="rId47" Target="notesSlides/notesSlide17.xml" Type="http://schemas.openxmlformats.org/officeDocument/2006/relationships/notesSlide"/><Relationship Id="rId48" Target="notesSlides/notesSlide18.xml" Type="http://schemas.openxmlformats.org/officeDocument/2006/relationships/notesSlide"/><Relationship Id="rId49" Target="notesSlides/notesSlide19.xml" Type="http://schemas.openxmlformats.org/officeDocument/2006/relationships/notesSlide"/><Relationship Id="rId50" Target="notesSlides/notesSlide20.xml" Type="http://schemas.openxmlformats.org/officeDocument/2006/relationships/notesSlide"/><Relationship Id="rId51" Target="notesSlides/notesSlide21.xml" Type="http://schemas.openxmlformats.org/officeDocument/2006/relationships/notesSlide"/><Relationship Id="rId52" Target="notesSlides/notesSlide22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大家好，今天我们将围绕“创家以‘AI’”这个项目，聚焦于如何通过智能技术与适老化设计的融合，来探讨一个全新的居家养老解决方案。我们将重点分析需求、构想软件形态并探索实现路径。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本次分享将围绕三个方面展开。首先，我们将深入分析适老化改造的市场需求与用户痛点；其次，基于这些需求，提出我们对软件产品的初步构想和核心定位；最后，共同探索实现这一构想的关键功能切入点和技术路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首先，让我们进入第一章，探讨项目的背景与市场分析。随着社会老龄化程度的加深，居家养老成为主流趋势，适老化改造的需求日益迫切。我们将深入分析这一社会背景下所蕴含的巨大市场机遇。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基于对老年群体的深入调研，我们归纳出四大核心需求：安全、健康、便捷和情感。在安全方面，我们关注防跌倒、紧急呼叫等关键场景；健康方面，致力于日常监测与健康管理；便捷方面，通过智能化手段简化操作；情感方面，则着力于缓解孤独，促进代际沟通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基于以上需求，我们明确了项目的开发目标：打造一个一站式的适老化改造平台。在开发范围上，我们将优先实现AI环境评估、智能安全监测等核心功能，而电商导流等功能将作为二期规划，确保项目聚焦核心价值，稳步推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接下来，我们进入第二章，详细解读整体解决方案的架构设计。我们的目标是构建一个安全、高效且具备良好扩展性的智慧养老服务体系，为后续功能的实现提供坚实的技术基础。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我们的整体架构分为四层：感知层通过各类智能设备采集数据；网络层负责数据传输；平台层作为“AI大脑”进行数据处理与分析；应用层则为不同用户角色提供直观的服务入口。这一架构确保了系统的稳定运行和灵活扩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第三章，我们将深入剖析方案的核心功能模块。我们采用模块化设计思想，将复杂的系统拆解为多个独立的功能模块，这不仅有助于功能解耦，也为未来的快速迭代和功能扩展奠定了基础。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我们的核心功能主要分为四个模块：AI环境评估模块能自动发现居家风险；智能安全监测模块是老人的“安全卫士”；健康数据管理模块帮助管理日常健康；远程亲情关爱模块则拉近了家人之间的距离。各模块协同工作，共同构成完整的服务闭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以AI环境评估模块为例，用户只需上传房屋照片和基本信息，系统就能通过图像识别技术自动标注风险点，如台阶、湿滑地面等，并结合知识库生成包含预算和效果图的个性化改造方案，大大降低了改造的门槛和成本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第四章，我们将介绍项目的技术选型与实施路径。为了保障项目的顺利落地和长期稳定运行，我们在技术选型上秉持成熟、稳定的原则，精心挑选了合适的技术栈。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在前端与硬件方面，我们选择Flutter进行跨平台应用开发，确保用户体验的一致性。同时，我们集成主流的IoT平台和语音交互引擎，以实现设备的广泛兼容和便捷的语音操控，特别适合老年用户。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后端方面，我们采用Python生态进行开发，AI算法则依托PyTorch和TensorFlow等成熟框架。通过Docker和Kubernetes实现微服务化部署，确保系统的高可用性和可扩展性。同时，利用云服务来高效处理和存储海量数据。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我们建立了完善的开发、测试和生产环境。通过Git和Jenkins实现高效的版本管理和自动化部署。独立的测试环境确保了代码质量，而稳定的云服务生产环境则为最终用户提供了可靠的服务保障。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第五章，我们重点关注数据安全与隐私保护。老年人的数据隐私至关重要，我们将建立一套完善的数据安全体系，全方位守护每一位用户的隐私。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我们对用户数据进行了严格的分类，包括基础信息、健康数据、环境行为数据和设备状态数据。针对不同类型的数据，我们设置了精细化的访问控制策略，确保数据仅在授权范围内被访问和使用。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在技术实现上，我们采用端到端加密保护数据传输与存储安全。通过联邦学习等隐私计算技术，在保护数据隐私的同时进行AI模型优化。我们还将严格遵守《个人信息保护法》，并建立全面的审计日志，确保所有操作可追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最后，在第六章中，我们将展示项目的实施计划和风险评估。清晰的路线图是项目成功的关键，而充分的风险预判和应对策略则能保障项目的顺利推进。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我们将项目分为三个阶段，共计9个月完成。第一阶段完成核心模块开发，第二阶段进行功能完善和试点验证，第三阶段则专注于系统优化和上线准备。通过分阶段实施，我们可以灵活调整方向，确保项目目标的最终达成。右侧图表展示了随着项目推进，用户满意度和问题解决率的预期提升趋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我们识别了技术、隐私和市场三方面的潜在风险。针对技术风险，我们将持续投入资源进行优化；针对隐私风险，我们采用最严格的加密和认证手段；针对市场风险，我们将通过多渠道合作和市场教育来提升用户接受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总结而言，我们的方案是一个全面、可落地的智慧适老化改造解决方案。我们相信，通过技术创新和人文关怀的结合，能够为老年人带来实实在在的帮助。展望未来，我们将持续倾听用户声音，不断迭代优化产品，努力成为智慧养老领域的引领者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我的汇报到此结束，感谢各位的聆听，敬请批评指正！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6.svg" Type="http://schemas.openxmlformats.org/officeDocument/2006/relationships/image"/><Relationship Id="rId11" Target="../notesSlides/notesSlide4.xml" Type="http://schemas.openxmlformats.org/officeDocument/2006/relationships/notesSlide"/><Relationship Id="rId2" Target="../media/image2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5.svg" Type="http://schemas.openxmlformats.org/officeDocument/2006/relationships/image"/><Relationship Id="rId11" Target="../notesSlides/notesSlide7.xml" Type="http://schemas.openxmlformats.org/officeDocument/2006/relationships/notesSlide"/><Relationship Id="rId2" Target="../media/image17.jpe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22.png" Type="http://schemas.openxmlformats.org/officeDocument/2006/relationships/image"/><Relationship Id="rId8" Target="../media/image23.sv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9.xml" Type="http://schemas.openxmlformats.org/officeDocument/2006/relationships/notesSlide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Relationship Id="rId8" Target="../media/image32.png" Type="http://schemas.openxmlformats.org/officeDocument/2006/relationships/image"/><Relationship Id="rId9" Target="../media/image3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0.xml" Type="http://schemas.openxmlformats.org/officeDocument/2006/relationships/notesSlide"/><Relationship Id="rId2" Target="../media/image34.png" Type="http://schemas.openxmlformats.org/officeDocument/2006/relationships/image"/><Relationship Id="rId3" Target="../media/image35.sv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Relationship Id="rId6" Target="../media/image38.png" Type="http://schemas.openxmlformats.org/officeDocument/2006/relationships/image"/><Relationship Id="rId7" Target="../media/image39.svg" Type="http://schemas.openxmlformats.org/officeDocument/2006/relationships/image"/><Relationship Id="rId8" Target="../media/image40.png" Type="http://schemas.openxmlformats.org/officeDocument/2006/relationships/image"/><Relationship Id="rId9" Target="../media/image41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2.png" Type="http://schemas.openxmlformats.org/officeDocument/2006/relationships/image"/><Relationship Id="rId3" Target="../media/image43.png" Type="http://schemas.openxmlformats.org/officeDocument/2006/relationships/image"/><Relationship Id="rId4" Target="../media/image44.png" Type="http://schemas.openxmlformats.org/officeDocument/2006/relationships/image"/><Relationship Id="rId5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5.png" Type="http://schemas.openxmlformats.org/officeDocument/2006/relationships/image"/><Relationship Id="rId3" Target="../media/image46.svg" Type="http://schemas.openxmlformats.org/officeDocument/2006/relationships/image"/><Relationship Id="rId4" Target="../media/image47.png" Type="http://schemas.openxmlformats.org/officeDocument/2006/relationships/image"/><Relationship Id="rId5" Target="../media/image48.svg" Type="http://schemas.openxmlformats.org/officeDocument/2006/relationships/image"/><Relationship Id="rId6" Target="../media/image49.png" Type="http://schemas.openxmlformats.org/officeDocument/2006/relationships/image"/><Relationship Id="rId7" Target="../media/image50.svg" Type="http://schemas.openxmlformats.org/officeDocument/2006/relationships/image"/><Relationship Id="rId8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1.png" Type="http://schemas.openxmlformats.org/officeDocument/2006/relationships/image"/><Relationship Id="rId3" Target="../media/image52.png" Type="http://schemas.openxmlformats.org/officeDocument/2006/relationships/image"/><Relationship Id="rId4" Target="../media/image53.png" Type="http://schemas.openxmlformats.org/officeDocument/2006/relationships/image"/><Relationship Id="rId5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6.xml" Type="http://schemas.openxmlformats.org/officeDocument/2006/relationships/notesSlide"/><Relationship Id="rId2" Target="../media/image54.png" Type="http://schemas.openxmlformats.org/officeDocument/2006/relationships/image"/><Relationship Id="rId3" Target="../media/image55.svg" Type="http://schemas.openxmlformats.org/officeDocument/2006/relationships/image"/><Relationship Id="rId4" Target="../media/image56.png" Type="http://schemas.openxmlformats.org/officeDocument/2006/relationships/image"/><Relationship Id="rId5" Target="../media/image57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Relationship Id="rId8" Target="../media/image58.png" Type="http://schemas.openxmlformats.org/officeDocument/2006/relationships/image"/><Relationship Id="rId9" Target="../media/image59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0.png" Type="http://schemas.openxmlformats.org/officeDocument/2006/relationships/image"/><Relationship Id="rId3" Target="../media/image61.svg" Type="http://schemas.openxmlformats.org/officeDocument/2006/relationships/image"/><Relationship Id="rId4" Target="../media/image62.png" Type="http://schemas.openxmlformats.org/officeDocument/2006/relationships/image"/><Relationship Id="rId5" Target="../media/image63.svg" Type="http://schemas.openxmlformats.org/officeDocument/2006/relationships/image"/><Relationship Id="rId6" Target="../media/image64.png" Type="http://schemas.openxmlformats.org/officeDocument/2006/relationships/image"/><Relationship Id="rId7" Target="../media/image65.svg" Type="http://schemas.openxmlformats.org/officeDocument/2006/relationships/image"/><Relationship Id="rId8" Target="../media/image66.png" Type="http://schemas.openxmlformats.org/officeDocument/2006/relationships/image"/><Relationship Id="rId9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20.xml" Type="http://schemas.openxmlformats.org/officeDocument/2006/relationships/notesSlide"/><Relationship Id="rId2" Target="../media/image36.png" Type="http://schemas.openxmlformats.org/officeDocument/2006/relationships/image"/><Relationship Id="rId3" Target="../media/image37.svg" Type="http://schemas.openxmlformats.org/officeDocument/2006/relationships/image"/><Relationship Id="rId4" Target="../media/image67.png" Type="http://schemas.openxmlformats.org/officeDocument/2006/relationships/image"/><Relationship Id="rId5" Target="../media/image68.sv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Relationship Id="rId8" Target="../media/image69.png" Type="http://schemas.openxmlformats.org/officeDocument/2006/relationships/image"/><Relationship Id="rId9" Target="../media/image70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21.xml" Type="http://schemas.openxmlformats.org/officeDocument/2006/relationships/notesSlide"/></Relationships>
</file>

<file path=ppt/slides/_rels/slide2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71.png" Type="http://schemas.openxmlformats.org/officeDocument/2006/relationships/image"/><Relationship Id="rId4" Target="../notesSlides/notesSlide22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413000"/>
            <a:ext cx="10160000" cy="1016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“创家以‘AI’”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2969" flipH="false" flipV="false">
            <a:off x="5588040" y="3549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FF6B0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016000" y="3746500"/>
            <a:ext cx="101600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聚焦智能技术与适老化设计的融合实现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38100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2969" flipH="false" flipV="false">
            <a:off x="762040" y="1390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FF6B0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6096000" y="1905000"/>
            <a:ext cx="5334000" cy="711200"/>
          </a:xfrm>
          <a:prstGeom prst="roundRect">
            <a:avLst>
              <a:gd name="adj" fmla="val 17857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0A74DA">
                <a:alpha val="3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6350000" y="21082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6794500" y="2006600"/>
            <a:ext cx="45720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适老化改造：需求与痛点分析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096000" y="3175000"/>
            <a:ext cx="5334000" cy="711200"/>
          </a:xfrm>
          <a:prstGeom prst="roundRect">
            <a:avLst>
              <a:gd name="adj" fmla="val 17857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0A74DA">
                <a:alpha val="3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350000" y="33782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6794500" y="3276600"/>
            <a:ext cx="45720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软件初步构想：核心思路与定位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096000" y="4445000"/>
            <a:ext cx="5334000" cy="711200"/>
          </a:xfrm>
          <a:prstGeom prst="roundRect">
            <a:avLst>
              <a:gd name="adj" fmla="val 17857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0A74DA">
                <a:alpha val="3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350000" y="46482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6794500" y="4546600"/>
            <a:ext cx="45720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切入点探索：关键功能与实现路径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1778000"/>
            <a:ext cx="12192000" cy="1524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8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3302000"/>
            <a:ext cx="121920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A74DA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项目背景与市场分析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2969" flipH="false" flipV="false">
            <a:off x="5588040" y="4057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FF6B0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0" y="4254500"/>
            <a:ext cx="121920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洞察老龄化社会下的改造需求与市场机遇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老年人核心需求分析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207000" cy="2222500"/>
          </a:xfrm>
          <a:prstGeom prst="roundRect">
            <a:avLst>
              <a:gd name="adj" fmla="val 5714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0A74DA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435100" y="2349500"/>
            <a:ext cx="812800" cy="812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2857500" y="1841500"/>
            <a:ext cx="2921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6B00"/>
                </a:solidFill>
                <a:latin typeface="Noto Sans SC"/>
                <a:ea typeface="Noto Sans SC"/>
                <a:cs typeface="Noto Sans SC"/>
                <a:sym typeface="Noto Sans SC"/>
              </a:rPr>
              <a:t>安全需求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857500" y="2222500"/>
            <a:ext cx="2921000" cy="1397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关注防跌倒监测、紧急呼叫、燃气/烟雾报警及夜间起身辅助照明，保障居住安全。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223000" y="1651000"/>
            <a:ext cx="5207000" cy="2222500"/>
          </a:xfrm>
          <a:prstGeom prst="roundRect">
            <a:avLst>
              <a:gd name="adj" fmla="val 5714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0A74DA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896100" y="2349500"/>
            <a:ext cx="812800" cy="812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8318500" y="1841500"/>
            <a:ext cx="2921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6B00"/>
                </a:solidFill>
                <a:latin typeface="Noto Sans SC"/>
                <a:ea typeface="Noto Sans SC"/>
                <a:cs typeface="Noto Sans SC"/>
                <a:sym typeface="Noto Sans SC"/>
              </a:rPr>
              <a:t>健康需求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318500" y="2222500"/>
            <a:ext cx="2921000" cy="1397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涵盖日常健康数据监测（心率、血压）、用药提醒、睡眠质量分析及远程医疗咨询服务。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127500"/>
            <a:ext cx="5207000" cy="2222500"/>
          </a:xfrm>
          <a:prstGeom prst="roundRect">
            <a:avLst>
              <a:gd name="adj" fmla="val 5714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0A74DA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435100" y="4826000"/>
            <a:ext cx="812800" cy="812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2857500" y="4318000"/>
            <a:ext cx="2921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6B00"/>
                </a:solidFill>
                <a:latin typeface="Noto Sans SC"/>
                <a:ea typeface="Noto Sans SC"/>
                <a:cs typeface="Noto Sans SC"/>
                <a:sym typeface="Noto Sans SC"/>
              </a:rPr>
              <a:t>便捷需求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2857500" y="4699000"/>
            <a:ext cx="2921000" cy="1397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通过智能语音控制、一键开关、适老家具虚拟展示及无接触交互，简化生活操作流程。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23000" y="4127500"/>
            <a:ext cx="5207000" cy="2222500"/>
          </a:xfrm>
          <a:prstGeom prst="roundRect">
            <a:avLst>
              <a:gd name="adj" fmla="val 5714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0A74DA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896100" y="4826000"/>
            <a:ext cx="812800" cy="8128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8318500" y="4318000"/>
            <a:ext cx="2921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6B00"/>
                </a:solidFill>
                <a:latin typeface="Noto Sans SC"/>
                <a:ea typeface="Noto Sans SC"/>
                <a:cs typeface="Noto Sans SC"/>
                <a:sym typeface="Noto Sans SC"/>
              </a:rPr>
              <a:t>情感需求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318500" y="4699000"/>
            <a:ext cx="2921000" cy="1397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提供视频通话、兴趣社区、远程亲情陪伴及AI聊天机器人，缓解孤独感，促进代际沟通。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F17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项目开发目标与范围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334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E6CFCF">
                <a:alpha val="8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A74DA"/>
                </a:solidFill>
                <a:latin typeface="Noto Sans SC"/>
                <a:ea typeface="Noto Sans SC"/>
                <a:cs typeface="Noto Sans SC"/>
                <a:sym typeface="Noto Sans SC"/>
              </a:rPr>
              <a:t>开发目标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构建一个集智能评估、设计、监测、服务于一体的一站式适老化改造平台，通过科技手段提升老年人居家生活的安全性、便捷性与幸福感。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3556000"/>
            <a:ext cx="5334000" cy="2921000"/>
          </a:xfrm>
          <a:prstGeom prst="roundRect">
            <a:avLst>
              <a:gd name="adj" fmla="val 4347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E6CFCF">
                <a:alpha val="8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A74DA"/>
                </a:solidFill>
                <a:latin typeface="Noto Sans SC"/>
                <a:ea typeface="Noto Sans SC"/>
                <a:cs typeface="Noto Sans SC"/>
                <a:sym typeface="Noto Sans SC"/>
              </a:rPr>
              <a:t>开发范围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核心功能：</a:t>
            </a: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AI环境评估模块、智能安全监测模块、健康管理模块、远程关爱模块、适老方案推荐模块。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非核心功能：</a:t>
            </a: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电商导流（适老产品购买）、线下服务预约（作为二期规划）。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2032000"/>
            <a:ext cx="12192000" cy="1016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6400">
                <a:solidFill>
                  <a:srgbClr val="FF6B00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3048000"/>
            <a:ext cx="12192000" cy="762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整体解决方案架构设计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42969" flipH="false" flipV="false">
            <a:off x="5588040" y="3930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0A74D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0" y="4191000"/>
            <a:ext cx="121920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构建安全、高效、可扩展的智慧养老服务体系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整体架构概览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16911" r="16911" t="0" b="0"/>
          <a:stretch>
            <a:fillRect/>
          </a:stretch>
        </p:blipFill>
        <p:spPr>
          <a:xfrm rot="0" flipH="false" flipV="false">
            <a:off x="762000" y="1651000"/>
            <a:ext cx="5080000" cy="4318000"/>
          </a:xfrm>
          <a:prstGeom prst="roundRect">
            <a:avLst>
              <a:gd name="adj" fmla="val 2941"/>
            </a:avLst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6223000" y="16510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6654800" y="1625600"/>
            <a:ext cx="4775200" cy="762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感知层（智能设备）：</a:t>
            </a:r>
            <a:r>
              <a:rPr lang="en-US" b="false" i="false" strike="noStrike" u="none" sz="13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包含传感器、智能摄像头、智能床垫等，负责采集环境与人体数据。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223000" y="26670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6654800" y="2641600"/>
            <a:ext cx="4775200" cy="762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网络层（通信）：</a:t>
            </a:r>
            <a:r>
              <a:rPr lang="en-US" b="false" i="false" strike="noStrike" u="none" sz="13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利用Wi-Fi、蓝牙、Zigbee、5G等技术，将感知层数据实时传输至云端。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223000" y="36830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6654800" y="3657600"/>
            <a:ext cx="4775200" cy="762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平台层（AI大脑）：</a:t>
            </a:r>
            <a:r>
              <a:rPr lang="en-US" b="false" i="false" strike="noStrike" u="none" sz="13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提供数据存储、AI算法分析（跌倒识别等）、设备管理及用户认证服务。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223000" y="46990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6654800" y="4673600"/>
            <a:ext cx="4775200" cy="762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应用层（服务入口）：</a:t>
            </a:r>
            <a:r>
              <a:rPr lang="en-US" b="false" i="false" strike="noStrike" u="none" sz="13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面向老人、子女及服务商，提供智能终端APP、远程关爱APP及管理后台。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2032000"/>
            <a:ext cx="12192000" cy="1016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6400">
                <a:solidFill>
                  <a:srgbClr val="0A74DA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3111500"/>
            <a:ext cx="121920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6B0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核心功能模块详解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57290" flipH="false" flipV="false">
            <a:off x="5715053" y="3676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0" y="3873500"/>
            <a:ext cx="121920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模块化设计，实现功能解耦与快速迭代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核心模块划分与交互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1778000"/>
            <a:ext cx="3556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A74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62000" y="2032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270000" y="2032000"/>
            <a:ext cx="2540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A74DA"/>
                </a:solidFill>
                <a:latin typeface="Noto Sans SC"/>
                <a:ea typeface="Noto Sans SC"/>
                <a:cs typeface="Noto Sans SC"/>
                <a:sym typeface="Noto Sans SC"/>
              </a:rPr>
              <a:t>AI环境评估模块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540000"/>
            <a:ext cx="3048000" cy="1016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基于上传的房屋照片/视频，自动识别风险点，并生成初步改造建议。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8000" y="3810000"/>
            <a:ext cx="3556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A74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762000" y="40640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270000" y="4064000"/>
            <a:ext cx="2540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A74DA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智能安全监测模块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4572000"/>
            <a:ext cx="3048000" cy="1016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融合多传感器数据，实时监测老人活动状态，实现跌倒检测、异常行为预警。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572000" y="1778000"/>
            <a:ext cx="711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A74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4826000" y="20320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5334000" y="2032000"/>
            <a:ext cx="5080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A74DA"/>
                </a:solidFill>
                <a:latin typeface="Noto Sans SC"/>
                <a:ea typeface="Noto Sans SC"/>
                <a:cs typeface="Noto Sans SC"/>
                <a:sym typeface="Noto Sans SC"/>
              </a:rPr>
              <a:t>健康数据管理模块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826000" y="2540000"/>
            <a:ext cx="6350000" cy="1016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整合可穿戴设备数据，生成健康报告，提供用药提醒。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572000" y="3810000"/>
            <a:ext cx="711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A74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4826000" y="40640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5334000" y="4064000"/>
            <a:ext cx="5080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A74DA"/>
                </a:solidFill>
                <a:latin typeface="Noto Sans SC"/>
                <a:ea typeface="Noto Sans SC"/>
                <a:cs typeface="Noto Sans SC"/>
                <a:sym typeface="Noto Sans SC"/>
              </a:rPr>
              <a:t>远程亲情关爱模块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826000" y="4572000"/>
            <a:ext cx="6350000" cy="1016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实现子女与老人的视频通话、远程查看家中状况。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AI环境评估模块详细设计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207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18796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87500" y="1778000"/>
            <a:ext cx="4191000" cy="3556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A74DA"/>
                </a:solidFill>
                <a:latin typeface="Noto Sans SC"/>
                <a:ea typeface="Noto Sans SC"/>
                <a:cs typeface="Noto Sans SC"/>
                <a:sym typeface="Noto Sans SC"/>
              </a:rPr>
              <a:t>输入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587500" y="2133600"/>
            <a:ext cx="41910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房屋照片/视频、户型图、老人身体状况信息。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857500"/>
            <a:ext cx="5207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16000" y="30861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587500" y="2984500"/>
            <a:ext cx="4191000" cy="3556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A74DA"/>
                </a:solidFill>
                <a:latin typeface="Noto Sans SC"/>
                <a:ea typeface="Noto Sans SC"/>
                <a:cs typeface="Noto Sans SC"/>
                <a:sym typeface="Noto Sans SC"/>
              </a:rPr>
              <a:t>处理流程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587500" y="3340100"/>
            <a:ext cx="41910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图像识别与场景解析 -&gt; 风险点自动标注 -&gt; 适老化改造知识库匹配 -&gt; 生成个性化改造方案。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064000"/>
            <a:ext cx="5207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42926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587500" y="4191000"/>
            <a:ext cx="4191000" cy="3556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A74DA"/>
                </a:solidFill>
                <a:latin typeface="Noto Sans SC"/>
                <a:ea typeface="Noto Sans SC"/>
                <a:cs typeface="Noto Sans SC"/>
                <a:sym typeface="Noto Sans SC"/>
              </a:rPr>
              <a:t>输出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587500" y="4546600"/>
            <a:ext cx="41910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包含改造项目清单、预算估算、3D效果预览的改造方案报告。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23000" y="1651000"/>
            <a:ext cx="5207000" cy="3492500"/>
          </a:xfrm>
          <a:prstGeom prst="roundRect">
            <a:avLst>
              <a:gd name="adj" fmla="val 363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A74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8064500" y="2286000"/>
            <a:ext cx="1524000" cy="15240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6477000" y="4064000"/>
            <a:ext cx="46990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AI智能环境风险评估与改造分析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1778000"/>
            <a:ext cx="12192000" cy="1524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8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3302000"/>
            <a:ext cx="121920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A74DA"/>
                </a:solidFill>
                <a:latin typeface="Noto Sans SC"/>
                <a:ea typeface="Noto Sans SC"/>
                <a:cs typeface="Noto Sans SC"/>
                <a:sym typeface="Noto Sans SC"/>
              </a:rPr>
              <a:t>技术选型与实施路径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57290" flipH="false" flipV="false">
            <a:off x="5715053" y="4057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FF6B0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0" y="4318000"/>
            <a:ext cx="121920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选择成熟稳定的技术栈，保障项目顺利落地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2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前端与硬件技术选型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762000" y="1714500"/>
            <a:ext cx="406400" cy="406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4" id="4"/>
          <p:cNvSpPr/>
          <p:nvPr/>
        </p:nvSpPr>
        <p:spPr>
          <a:xfrm rot="0" flipH="false" flipV="false">
            <a:off x="1397000" y="1676400"/>
            <a:ext cx="10160000" cy="762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A74DA"/>
                </a:solidFill>
                <a:latin typeface="Noto Sans SC"/>
                <a:ea typeface="Noto Sans SC"/>
                <a:cs typeface="Noto Sans SC"/>
                <a:sym typeface="Noto Sans SC"/>
              </a:rPr>
              <a:t>移动应用框架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选用Flutter进行跨平台开发，兼顾iOS和Android系统。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762000" y="2857500"/>
            <a:ext cx="406400" cy="406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1397000" y="2819400"/>
            <a:ext cx="10160000" cy="762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A74DA"/>
                </a:solidFill>
                <a:latin typeface="Noto Sans SC"/>
                <a:ea typeface="Noto Sans SC"/>
                <a:cs typeface="Noto Sans SC"/>
                <a:sym typeface="Noto Sans SC"/>
              </a:rPr>
              <a:t>物联网(IoT)平台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集成主流IoT平台（如阿里云IoT、华为云IoT），实现设备统一接入。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762000" y="4000500"/>
            <a:ext cx="406400" cy="406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8" id="8"/>
          <p:cNvSpPr/>
          <p:nvPr/>
        </p:nvSpPr>
        <p:spPr>
          <a:xfrm rot="0" flipH="false" flipV="false">
            <a:off x="1397000" y="3962400"/>
            <a:ext cx="10160000" cy="762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A74DA"/>
                </a:solidFill>
                <a:latin typeface="Noto Sans SC"/>
                <a:ea typeface="Noto Sans SC"/>
                <a:cs typeface="Noto Sans SC"/>
                <a:sym typeface="Noto Sans SC"/>
              </a:rPr>
              <a:t>语音交互引擎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集成科大讯飞或百度的语音识别与合成引擎，方便老人使用。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40259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后端与AI技术选型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62000" y="1651000"/>
            <a:ext cx="406400" cy="4064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 rot="0" flipH="false" flipV="false">
            <a:off x="1397000" y="1625600"/>
            <a:ext cx="10160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A74DA"/>
                </a:solidFill>
                <a:latin typeface="Noto Sans SC"/>
                <a:ea typeface="Noto Sans SC"/>
                <a:cs typeface="Noto Sans SC"/>
                <a:sym typeface="Noto Sans SC"/>
              </a:rPr>
              <a:t>开发语言与框架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397000" y="2032000"/>
            <a:ext cx="101600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后端采用Python + Django/Flask，AI算法使用PyTorch/TensorFlow。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762000" y="29210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397000" y="2895600"/>
            <a:ext cx="10160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A74DA"/>
                </a:solidFill>
                <a:latin typeface="Noto Sans SC"/>
                <a:ea typeface="Noto Sans SC"/>
                <a:cs typeface="Noto Sans SC"/>
                <a:sym typeface="Noto Sans SC"/>
              </a:rPr>
              <a:t>微服务与容器化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397000" y="3302000"/>
            <a:ext cx="101600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使用Docker和Kubernetes实现系统的弹性伸缩和高可用性。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762000" y="4191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397000" y="4165600"/>
            <a:ext cx="10160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A74DA"/>
                </a:solidFill>
                <a:latin typeface="Noto Sans SC"/>
                <a:ea typeface="Noto Sans SC"/>
                <a:cs typeface="Noto Sans SC"/>
                <a:sym typeface="Noto Sans SC"/>
              </a:rPr>
              <a:t>大数据与云服务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397000" y="4572000"/>
            <a:ext cx="101600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采用云服务器进行数据存储与计算，利用对象存储服务存储用户文件。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开发与测试环境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762000" y="1841500"/>
            <a:ext cx="406400" cy="406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4" id="4"/>
          <p:cNvSpPr/>
          <p:nvPr/>
        </p:nvSpPr>
        <p:spPr>
          <a:xfrm rot="0" flipH="false" flipV="false">
            <a:off x="1397000" y="1803400"/>
            <a:ext cx="10160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A74DA"/>
                </a:solidFill>
                <a:latin typeface="Noto Sans SC"/>
                <a:ea typeface="Noto Sans SC"/>
                <a:cs typeface="Noto Sans SC"/>
                <a:sym typeface="Noto Sans SC"/>
              </a:rPr>
              <a:t>开发环境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397000" y="2184400"/>
            <a:ext cx="101600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使用Git进行版本控制，Jenkins进行持续集成/持续部署（CI/CD）。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762000" y="3111500"/>
            <a:ext cx="406400" cy="406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1397000" y="3073400"/>
            <a:ext cx="10160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A74DA"/>
                </a:solidFill>
                <a:latin typeface="Noto Sans SC"/>
                <a:ea typeface="Noto Sans SC"/>
                <a:cs typeface="Noto Sans SC"/>
                <a:sym typeface="Noto Sans SC"/>
              </a:rPr>
              <a:t>测试环境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397000" y="3454400"/>
            <a:ext cx="101600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搭建独立的测试服务器，进行单元测试、集成测试和性能测试。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762000" y="4381500"/>
            <a:ext cx="406400" cy="406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/>
          <p:nvPr/>
        </p:nvSpPr>
        <p:spPr>
          <a:xfrm rot="0" flipH="false" flipV="false">
            <a:off x="1397000" y="4343400"/>
            <a:ext cx="10160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A74DA"/>
                </a:solidFill>
                <a:latin typeface="Noto Sans SC"/>
                <a:ea typeface="Noto Sans SC"/>
                <a:cs typeface="Noto Sans SC"/>
                <a:sym typeface="Noto Sans SC"/>
              </a:rPr>
              <a:t>生产环境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397000" y="4724400"/>
            <a:ext cx="101600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采用云服务器（如阿里云、AWS）进行部署，保证高可用性和安全性。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1778000"/>
            <a:ext cx="12192000" cy="1524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9600">
                <a:solidFill>
                  <a:srgbClr val="0A74DA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3429000"/>
            <a:ext cx="121920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数据安全与隐私保护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57290" flipH="false" flipV="false">
            <a:off x="5715053" y="4184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FF6B0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0" y="4381500"/>
            <a:ext cx="121920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建立完善的数据安全体系，守护老人隐私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50292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数据分类与访问控制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080000" cy="1397000"/>
          </a:xfrm>
          <a:prstGeom prst="roundRect">
            <a:avLst>
              <a:gd name="adj" fmla="val 9090"/>
            </a:avLst>
          </a:prstGeom>
          <a:solidFill>
            <a:srgbClr val="FF6B00">
              <a:alpha val="15000"/>
            </a:srgbClr>
          </a:solidFill>
          <a:ln w="12700" cmpd="sng" cap="flat">
            <a:solidFill>
              <a:srgbClr val="FF6B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460500" y="1866900"/>
            <a:ext cx="3810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6B00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用户基础信息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286000"/>
            <a:ext cx="4318000" cy="698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严格控制访问权限，确保用户身份信息安全。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350000" y="1651000"/>
            <a:ext cx="5080000" cy="1397000"/>
          </a:xfrm>
          <a:prstGeom prst="roundRect">
            <a:avLst>
              <a:gd name="adj" fmla="val 9090"/>
            </a:avLst>
          </a:prstGeom>
          <a:solidFill>
            <a:srgbClr val="0A74DA">
              <a:alpha val="15000"/>
            </a:srgbClr>
          </a:solidFill>
          <a:ln w="12700" cmpd="sng" cap="flat">
            <a:solidFill>
              <a:srgbClr val="0A74D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604000" y="19050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7048500" y="1866900"/>
            <a:ext cx="3810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A74DA"/>
                </a:solidFill>
                <a:latin typeface="Noto Sans SC"/>
                <a:ea typeface="Noto Sans SC"/>
                <a:cs typeface="Noto Sans SC"/>
                <a:sym typeface="Noto Sans SC"/>
              </a:rPr>
              <a:t>健康数据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604000" y="2286000"/>
            <a:ext cx="4318000" cy="698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仅授权用户可查看，严格保护个人隐私数据。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3429000"/>
            <a:ext cx="5080000" cy="1397000"/>
          </a:xfrm>
          <a:prstGeom prst="roundRect">
            <a:avLst>
              <a:gd name="adj" fmla="val 9090"/>
            </a:avLst>
          </a:prstGeom>
          <a:solidFill>
            <a:srgbClr val="0A74DA">
              <a:alpha val="15000"/>
            </a:srgbClr>
          </a:solidFill>
          <a:ln w="12700" cmpd="sng" cap="flat">
            <a:solidFill>
              <a:srgbClr val="0A74D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36830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460500" y="3644900"/>
            <a:ext cx="3810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A74DA"/>
                </a:solidFill>
                <a:latin typeface="Noto Sans SC"/>
                <a:ea typeface="Noto Sans SC"/>
                <a:cs typeface="Noto Sans SC"/>
                <a:sym typeface="Noto Sans SC"/>
              </a:rPr>
              <a:t>环境与行为数据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16000" y="4064000"/>
            <a:ext cx="4318000" cy="698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用于安全监测，对敏感信息进行数据脱敏处理。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350000" y="3429000"/>
            <a:ext cx="5080000" cy="1397000"/>
          </a:xfrm>
          <a:prstGeom prst="roundRect">
            <a:avLst>
              <a:gd name="adj" fmla="val 9090"/>
            </a:avLst>
          </a:prstGeom>
          <a:solidFill>
            <a:srgbClr val="FF6B00">
              <a:alpha val="15000"/>
            </a:srgbClr>
          </a:solidFill>
          <a:ln w="12700" cmpd="sng" cap="flat">
            <a:solidFill>
              <a:srgbClr val="FF6B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604000" y="3683000"/>
            <a:ext cx="304800" cy="3048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7048500" y="3644900"/>
            <a:ext cx="3810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6B00"/>
                </a:solidFill>
                <a:latin typeface="Noto Sans SC"/>
                <a:ea typeface="Noto Sans SC"/>
                <a:cs typeface="Noto Sans SC"/>
                <a:sym typeface="Noto Sans SC"/>
              </a:rPr>
              <a:t>设备状态数据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604000" y="4064000"/>
            <a:ext cx="4318000" cy="698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用于设备管理和故障排查，保障系统稳定运行。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0F17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50292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安全策略与技术实现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A74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032000"/>
            <a:ext cx="2794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A74DA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数据加密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540000"/>
            <a:ext cx="2794000" cy="1270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所有敏感数据在传输和存储过程中均采用高强度加密算法，确保数据安全无虞。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445000" y="1778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A74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699000" y="2032000"/>
            <a:ext cx="2794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A74DA"/>
                </a:solidFill>
                <a:latin typeface="Noto Sans SC"/>
                <a:ea typeface="Noto Sans SC"/>
                <a:cs typeface="Noto Sans SC"/>
                <a:sym typeface="Noto Sans SC"/>
              </a:rPr>
              <a:t>隐私计算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699000" y="2540000"/>
            <a:ext cx="2794000" cy="1270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采用联邦学习等前沿技术，在不泄露原始数据的前提下进行AI模型训练，兼顾隐私与效能。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128000" y="1778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A74D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382000" y="2032000"/>
            <a:ext cx="2794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A74DA"/>
                </a:solidFill>
                <a:latin typeface="Noto Sans SC"/>
                <a:ea typeface="Noto Sans SC"/>
                <a:cs typeface="Noto Sans SC"/>
                <a:sym typeface="Noto Sans SC"/>
              </a:rPr>
              <a:t>合规与审计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382000" y="2540000"/>
            <a:ext cx="2794000" cy="1270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严格遵守相关法律法规，建立完善的操作审计日志，确保所有行为可追溯、可审计。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2032000"/>
            <a:ext cx="12192000" cy="1270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6400">
                <a:solidFill>
                  <a:srgbClr val="0A74DA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3302000"/>
            <a:ext cx="12192000" cy="762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项目实施计划与风险评估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57290" flipH="false" flipV="false">
            <a:off x="5715053" y="4184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FF6B0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0" y="4445000"/>
            <a:ext cx="121920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制定清晰的开发路线图，识别并规避潜在风险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项目实施里程碑与计划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207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E6CFCF">
                <a:alpha val="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952500" y="18415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460500" y="1803400"/>
            <a:ext cx="4318000" cy="3556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A74DA"/>
                </a:solidFill>
                <a:latin typeface="Noto Sans SC"/>
                <a:ea typeface="Noto Sans SC"/>
                <a:cs typeface="Noto Sans SC"/>
                <a:sym typeface="Noto Sans SC"/>
              </a:rPr>
              <a:t>第一阶段（1-3个月）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460500" y="2159000"/>
            <a:ext cx="4318000" cy="762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完成核心团队组建，开发AI环境评估和基础安全监测模块。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302000"/>
            <a:ext cx="5207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E6CFCF">
                <a:alpha val="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952500" y="34925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460500" y="3454400"/>
            <a:ext cx="4318000" cy="3556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A74DA"/>
                </a:solidFill>
                <a:latin typeface="Noto Sans SC"/>
                <a:ea typeface="Noto Sans SC"/>
                <a:cs typeface="Noto Sans SC"/>
                <a:sym typeface="Noto Sans SC"/>
              </a:rPr>
              <a:t>第二阶段（4-6个月）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460500" y="3810000"/>
            <a:ext cx="4318000" cy="762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开发健康管理和远程关爱模块，完成设备对接，启动小规模试点。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953000"/>
            <a:ext cx="5207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E6CFCF">
                <a:alpha val="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952500" y="51435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460500" y="5105400"/>
            <a:ext cx="4318000" cy="3556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A74DA"/>
                </a:solidFill>
                <a:latin typeface="Noto Sans SC"/>
                <a:ea typeface="Noto Sans SC"/>
                <a:cs typeface="Noto Sans SC"/>
                <a:sym typeface="Noto Sans SC"/>
              </a:rPr>
              <a:t>第三阶段（7-9个月）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460500" y="5461000"/>
            <a:ext cx="4318000" cy="762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系统全面测试与优化，完善用户体验，准备正式上线。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23000" y="1651000"/>
            <a:ext cx="5207000" cy="4699000"/>
          </a:xfrm>
          <a:prstGeom prst="roundRect">
            <a:avLst>
              <a:gd name="adj" fmla="val 2702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E6CFCF">
                <a:alpha val="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 flipH="false" flipV="false">
            <a:off x="6350000" y="1778000"/>
            <a:ext cx="4953000" cy="4445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潜在风险与应对策略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080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E6CFCF">
                <a:alpha val="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18796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74800" y="1778000"/>
            <a:ext cx="4064000" cy="3556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A74DA"/>
                </a:solidFill>
                <a:latin typeface="Noto Sans SC"/>
                <a:ea typeface="Noto Sans SC"/>
                <a:cs typeface="Noto Sans SC"/>
                <a:sym typeface="Noto Sans SC"/>
              </a:rPr>
              <a:t>技术风险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574800" y="2159000"/>
            <a:ext cx="4064000" cy="762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AI算法准确率不足、设备兼容性问题。应对：投入资源优化算法，建立开放接入标准。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302000"/>
            <a:ext cx="5080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E6CFCF">
                <a:alpha val="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16000" y="35306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574800" y="3429000"/>
            <a:ext cx="4064000" cy="3556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A74DA"/>
                </a:solidFill>
                <a:latin typeface="Noto Sans SC"/>
                <a:ea typeface="Noto Sans SC"/>
                <a:cs typeface="Noto Sans SC"/>
                <a:sym typeface="Noto Sans SC"/>
              </a:rPr>
              <a:t>隐私风险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574800" y="3810000"/>
            <a:ext cx="4064000" cy="762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用户数据泄露。应对：采用端到端加密，通过权威安全认证。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953000"/>
            <a:ext cx="5080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E6CFCF">
                <a:alpha val="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51816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574800" y="5080000"/>
            <a:ext cx="4064000" cy="3556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A74DA"/>
                </a:solidFill>
                <a:latin typeface="Noto Sans SC"/>
                <a:ea typeface="Noto Sans SC"/>
                <a:cs typeface="Noto Sans SC"/>
                <a:sym typeface="Noto Sans SC"/>
              </a:rPr>
              <a:t>市场风险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574800" y="5461000"/>
            <a:ext cx="4064000" cy="762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用户接受度不高。应对：加强市场教育，与养老机构合作，扩大用户基数。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23000" y="1651000"/>
            <a:ext cx="5207000" cy="4699000"/>
          </a:xfrm>
          <a:prstGeom prst="roundRect">
            <a:avLst>
              <a:gd name="adj" fmla="val 2702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8064500" y="2540000"/>
            <a:ext cx="1524000" cy="15240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6540500" y="4191000"/>
            <a:ext cx="45720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智慧养老生态系统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540500" y="4699000"/>
            <a:ext cx="4572000" cy="762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整合智能硬件、软件平台与服务提供商，构建全方位安全保障体系。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总结与展望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10668000" cy="3810000"/>
          </a:xfrm>
          <a:prstGeom prst="roundRect">
            <a:avLst>
              <a:gd name="adj" fmla="val 3333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A74DA">
                <a:alpha val="30000"/>
              </a:srgbClr>
            </a:solidFill>
            <a:prstDash val="solid"/>
            <a:round/>
          </a:ln>
        </p:spPr>
        <p:txBody>
          <a:bodyPr anchor="ctr" rtlCol="false" anchorCtr="false" vert="horz" wrap="square" lIns="254000" rIns="254000" tIns="254000" bIns="25400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本方案详细阐述了智慧适老化改造解决方案的设计思路，涵盖了从市场分析、需求洞察、架构设计、功能模块到技术选型和实施计划的全过程。未来，我们将根据用户反馈持续迭代产品，致力于打造一个安全、智能、有温度的居家养老服务平台，让科技真正服务于每一位老年人，提升他们的生活品质和幸福感。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413000"/>
            <a:ext cx="10160000" cy="1016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THANK YOU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2969" flipH="false" flipV="false">
            <a:off x="5588040" y="3549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FF6B0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016000" y="3810000"/>
            <a:ext cx="101600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0A74DA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 · 敬请指正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0668000" y="6184900"/>
            <a:ext cx="1524000" cy="6731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